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EWI inpu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7200"/>
          <a:ext cx="694944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2926080"/>
                <a:gridCol w="2468880"/>
                <a:gridCol w="7772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Symbol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 and definition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 used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B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GWP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Global warming potential: warming from 1 kg of refrigerant relative to 1 kg of CO₂ over 100 years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R-134a 1530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R-1234yf 0.501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R-515B 321.6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R-744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[1], [2]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i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Refrigerant charge in the system (kg)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kg/kW × 60 kW = 120 kg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R-744 in cascade: 60 kg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[3]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i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Leak rate: fraction of the charge lost per year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10 % per year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[4]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i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 lifetime (years)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years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[4]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i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α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Recovery factor: fraction of the charge recovered at end of life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[4]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i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 electricity consumption (kWh per year)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Modelica annual results, 4 cities, with and without 21 °C condensing limit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This 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i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β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Grid emission factor: kg CO₂e emitted per kWh of electricity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Chicago 0.416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Atlanta 0.384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San Diego 0.195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Tucson 0.320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[5]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Text 0"/>
          <p:cNvSpPr txBox="1"/>
          <p:nvPr/>
        </p:nvSpPr>
        <p:spPr>
          <a:xfrm>
            <a:off x="457200" y="49377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Summed over every refrigerant in the system (cascade: hot loop + R-744).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112471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IPCC, AR6 WGI, Chapter 7 Supplementary Material, Table 7.SM.7 (2021).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ASHRAE Standard 34-2019, Addendum p, Table 4-2 (R-515B composition 91.1 % R-1234ze(E) / 8.9 % R-227ea; GWP mass-weighted).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E. Bellos and C. Tzivanidis, Appl. Sci. 9(4), 790 (2019).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 IPCC, 2019 Refinement to the 2006 Guidelines, Vol. 3, Ch. 7, Table 7.9 (medium and large commercial refrigeration).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 U.S. EPA, eGRID2023 Summary Tables, rev. 2 (27 March 2025), Table 1.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[6] S. K. Fischer, Int. J. Refrig. 16(6), 423–428 (1993).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TEWI inputs table</dc:title>
  <dc:subject>PptxGenJS Presentation</dc:subject>
  <dc:creator>PptxGenJS</dc:creator>
  <cp:lastModifiedBy>PptxGenJS</cp:lastModifiedBy>
  <cp:revision>1</cp:revision>
  <dcterms:created xsi:type="dcterms:W3CDTF">2026-10-16T17:27:10Z</dcterms:created>
  <dcterms:modified xsi:type="dcterms:W3CDTF">2026-10-16T17:27:10Z</dcterms:modified>
</cp:coreProperties>
</file>